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werpoint Presentation" id="{34DFBA97-97C0-954B-BFFB-F4C23120A3DB}">
          <p14:sldIdLst>
            <p14:sldId id="256"/>
            <p14:sldId id="257"/>
            <p14:sldId id="277"/>
            <p14:sldId id="258"/>
            <p14:sldId id="259"/>
            <p14:sldId id="267"/>
            <p14:sldId id="260"/>
            <p14:sldId id="261"/>
            <p14:sldId id="279"/>
            <p14:sldId id="268"/>
            <p14:sldId id="269"/>
            <p14:sldId id="270"/>
            <p14:sldId id="274"/>
            <p14:sldId id="275"/>
            <p14:sldId id="276"/>
            <p14:sldId id="271"/>
            <p14:sldId id="272"/>
            <p14:sldId id="278"/>
            <p14:sldId id="273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20"/>
    <a:srgbClr val="93FF80"/>
    <a:srgbClr val="161616"/>
    <a:srgbClr val="656565"/>
    <a:srgbClr val="A8A8A8"/>
    <a:srgbClr val="00B290"/>
    <a:srgbClr val="66FFCC"/>
    <a:srgbClr val="94FF80"/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88270B-F586-E52F-7131-D923D8E5A296}" v="1" dt="2026-09-22T09:43:40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5/10/relationships/revisionInfo" Target="revisionInfo.xml"/><Relationship Id="rId33" Type="http://schemas.openxmlformats.org/officeDocument/2006/relationships/slide" Target="slides/slide1.xml"/><Relationship Id="rId34" Type="http://schemas.openxmlformats.org/officeDocument/2006/relationships/slide" Target="slides/slide2.xml"/><Relationship Id="rId35" Type="http://schemas.openxmlformats.org/officeDocument/2006/relationships/slide" Target="slides/slide3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14.xml"/><Relationship Id="rId47" Type="http://schemas.openxmlformats.org/officeDocument/2006/relationships/slide" Target="slides/slide15.xml"/><Relationship Id="rId48" Type="http://schemas.openxmlformats.org/officeDocument/2006/relationships/slide" Target="slides/slide16.xml"/><Relationship Id="rId49" Type="http://schemas.openxmlformats.org/officeDocument/2006/relationships/slide" Target="slides/slide17.xml"/><Relationship Id="rId50" Type="http://schemas.openxmlformats.org/officeDocument/2006/relationships/slide" Target="slides/slide18.xml"/><Relationship Id="rId51" Type="http://schemas.openxmlformats.org/officeDocument/2006/relationships/slide" Target="slides/slide19.xml"/><Relationship Id="rId52" Type="http://schemas.openxmlformats.org/officeDocument/2006/relationships/slide" Target="slides/slide20.xml"/><Relationship Id="rId53" Type="http://schemas.openxmlformats.org/officeDocument/2006/relationships/slide" Target="slides/slide21.xml"/><Relationship Id="rId54" Type="http://schemas.openxmlformats.org/officeDocument/2006/relationships/slide" Target="slides/slide22.xml"/><Relationship Id="rId55" Type="http://schemas.openxmlformats.org/officeDocument/2006/relationships/slide" Target="slides/slide23.xml"/><Relationship Id="rId56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B1D508-B703-8144-5F2A-4EF1A91D1A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T Sono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C2CE2B-D7B6-6601-69A9-C0C2BF59E4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T Sono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0BEC1-EA8D-3106-BBEF-9828796C5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E61C8-CC70-5442-8822-539957E904E0}" type="slidenum">
              <a:rPr lang="en-US" smtClean="0">
                <a:latin typeface="OT Sono" pitchFamily="2" charset="77"/>
              </a:rPr>
              <a:t>‹#›</a:t>
            </a:fld>
            <a:endParaRPr lang="en-US">
              <a:latin typeface="OT So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247805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T Sono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T Sono" pitchFamily="2" charset="77"/>
              </a:defRPr>
            </a:lvl1pPr>
          </a:lstStyle>
          <a:p>
            <a:fld id="{5F4C0679-DDE4-BB4B-8170-0EC23D8B514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T Sono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T Sono" pitchFamily="2" charset="77"/>
              </a:defRPr>
            </a:lvl1pPr>
          </a:lstStyle>
          <a:p>
            <a:fld id="{C8A0FFFF-E2B6-FB44-A887-6856512260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7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OT Sono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OT Sono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OT Sono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OT Sono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OT Sono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6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6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6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6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6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6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6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E228F7-DA5C-DF97-DFD2-D464127EEA4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96A02C9-0019-2A73-8E7F-5728512093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29801"/>
            <a:ext cx="11430000" cy="3960000"/>
          </a:xfrm>
        </p:spPr>
        <p:txBody>
          <a:bodyPr wrap="square" anchor="t" anchorCtr="0">
            <a:noAutofit/>
          </a:bodyPr>
          <a:lstStyle>
            <a:lvl1pPr>
              <a:lnSpc>
                <a:spcPts val="7800"/>
              </a:lnSpc>
              <a:defRPr sz="7800" spc="-150"/>
            </a:lvl1pPr>
          </a:lstStyle>
          <a:p>
            <a:r>
              <a:rPr lang="en-GB"/>
              <a:t>Title of Deck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241456-D8E5-7B70-A38F-407D75BD0261}"/>
              </a:ext>
            </a:extLst>
          </p:cNvPr>
          <p:cNvSpPr txBox="1">
            <a:spLocks/>
          </p:cNvSpPr>
          <p:nvPr userDrawn="1"/>
        </p:nvSpPr>
        <p:spPr>
          <a:xfrm>
            <a:off x="10716148" y="6480000"/>
            <a:ext cx="109485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SG" sz="800">
                <a:effectLst/>
              </a:rPr>
              <a:t>Private and Confidential</a:t>
            </a:r>
            <a:endParaRPr lang="en-US" sz="80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3242E7-CD53-0A81-61A4-A9189255214D}"/>
              </a:ext>
            </a:extLst>
          </p:cNvPr>
          <p:cNvPicPr/>
          <p:nvPr userDrawn="1"/>
        </p:nvPicPr>
        <p:blipFill>
          <a:blip r:embed="rId3"/>
          <a:srcRect t="9260" b="9260"/>
          <a:stretch/>
        </p:blipFill>
        <p:spPr>
          <a:xfrm>
            <a:off x="180000" y="5389200"/>
            <a:ext cx="218316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99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2650F2-E5BF-D0D7-7D73-B755FE8ADB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523B539-D173-D4CE-9FAC-8EEA7694F5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29801"/>
            <a:ext cx="11430000" cy="3960000"/>
          </a:xfrm>
        </p:spPr>
        <p:txBody>
          <a:bodyPr wrap="square" anchor="t" anchorCtr="0">
            <a:noAutofit/>
          </a:bodyPr>
          <a:lstStyle>
            <a:lvl1pPr>
              <a:lnSpc>
                <a:spcPts val="7800"/>
              </a:lnSpc>
              <a:defRPr sz="7800" spc="-150"/>
            </a:lvl1pPr>
          </a:lstStyle>
          <a:p>
            <a:r>
              <a:rPr lang="en-GB"/>
              <a:t>Title of Deck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8D752-2FFB-FA92-BF77-9340A19FD800}"/>
              </a:ext>
            </a:extLst>
          </p:cNvPr>
          <p:cNvSpPr txBox="1">
            <a:spLocks/>
          </p:cNvSpPr>
          <p:nvPr userDrawn="1"/>
        </p:nvSpPr>
        <p:spPr>
          <a:xfrm>
            <a:off x="10716148" y="6480000"/>
            <a:ext cx="109485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SG" sz="800">
                <a:effectLst/>
              </a:rPr>
              <a:t>Private and Confidential</a:t>
            </a:r>
            <a:endParaRPr lang="en-US" sz="80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462C5-FE3F-8301-633D-9C0D6A63ED58}"/>
              </a:ext>
            </a:extLst>
          </p:cNvPr>
          <p:cNvPicPr/>
          <p:nvPr userDrawn="1"/>
        </p:nvPicPr>
        <p:blipFill>
          <a:blip r:embed="rId3"/>
          <a:srcRect t="9260" b="9260"/>
          <a:stretch/>
        </p:blipFill>
        <p:spPr>
          <a:xfrm>
            <a:off x="180000" y="5389200"/>
            <a:ext cx="218316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4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B2650F2-E5BF-D0D7-7D73-B755FE8ADB8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629801"/>
            <a:ext cx="11430000" cy="3960000"/>
          </a:xfrm>
        </p:spPr>
        <p:txBody>
          <a:bodyPr wrap="square" anchor="t" anchorCtr="0">
            <a:noAutofit/>
          </a:bodyPr>
          <a:lstStyle>
            <a:lvl1pPr>
              <a:lnSpc>
                <a:spcPts val="7800"/>
              </a:lnSpc>
              <a:defRPr sz="7800" spc="-150"/>
            </a:lvl1pPr>
          </a:lstStyle>
          <a:p>
            <a:r>
              <a:rPr lang="en-GB"/>
              <a:t>Title of Deck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730A5-3166-F785-D756-4568FD3E5E13}"/>
              </a:ext>
            </a:extLst>
          </p:cNvPr>
          <p:cNvSpPr txBox="1">
            <a:spLocks/>
          </p:cNvSpPr>
          <p:nvPr userDrawn="1"/>
        </p:nvSpPr>
        <p:spPr>
          <a:xfrm>
            <a:off x="10716148" y="6480000"/>
            <a:ext cx="1094852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r>
              <a:rPr lang="en-SG" sz="800">
                <a:effectLst/>
              </a:rPr>
              <a:t>Private and Confidential</a:t>
            </a:r>
            <a:endParaRPr lang="en-US" sz="80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F3B27C-5C78-A3A7-EA6B-C3FF79A23D68}"/>
              </a:ext>
            </a:extLst>
          </p:cNvPr>
          <p:cNvPicPr/>
          <p:nvPr userDrawn="1"/>
        </p:nvPicPr>
        <p:blipFill>
          <a:blip r:embed="rId3"/>
          <a:srcRect t="9260" b="9260"/>
          <a:stretch/>
        </p:blipFill>
        <p:spPr>
          <a:xfrm>
            <a:off x="180000" y="5389200"/>
            <a:ext cx="218316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3F7CC7-E337-DD58-AEB5-45025C4434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1F959C9-E233-7C03-7867-74546B1E9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23BA95-271B-5805-295D-357F0761D2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53239-A507-63FC-A8AE-75141F81F4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1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3F7CC7-E337-DD58-AEB5-45025C4434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03189F4-0578-E6D8-F771-ACBCFC1DEB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36A1C3-37F9-62FE-0789-885C1E957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2EF38E-C3D3-7BD7-3FB5-C59439F755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7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B3F7CC7-E337-DD58-AEB5-45025C4434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853E4D-8BC9-519C-93A7-D34117217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B7EE688-9CDA-F805-E48D-AE8DBE88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BD61AF-CFC2-7CC5-512F-5DE8DC552E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7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P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04FD77-1A2E-160C-6341-F10F031637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5F9C14-6F57-2E26-A94A-299534818D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9C70A1-C13A-EEDA-4B1B-77C8E9C22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8A8F7-D4C1-D63F-3DFD-7ED7BCB2FB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35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P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304FD77-1A2E-160C-6341-F10F031637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CD677B1-F45A-4AD1-345B-2C40E5BFC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CD9B04-7452-0944-486A-E63C6091E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334CD-BC6F-9C00-1490-B5FDE97EE5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8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3B9C70-09BE-7083-AC30-C3B1FAC105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15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קסט, גאדג'ט, אדם, צילום מסך&#10;&#10;התיאור נוצר באופן אוטומטי">
            <a:extLst>
              <a:ext uri="{FF2B5EF4-FFF2-40B4-BE49-F238E27FC236}">
                <a16:creationId xmlns:a16="http://schemas.microsoft.com/office/drawing/2014/main" id="{970FEFBC-73C3-B4E7-2C5A-9E626D86C5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5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 descr="תמונה שמכילה טקסט, טלפון נייד, צילום מסך, מכשירי תקשורת נישאים&#10;&#10;התיאור נוצר באופן אוטומטי">
            <a:extLst>
              <a:ext uri="{FF2B5EF4-FFF2-40B4-BE49-F238E27FC236}">
                <a16:creationId xmlns:a16="http://schemas.microsoft.com/office/drawing/2014/main" id="{E4A77B87-AC2E-A735-7691-E7AE20BEE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1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קסט, צילום מסך, טלפון נייד, אדם&#10;&#10;התיאור נוצר באופן אוטומטי">
            <a:extLst>
              <a:ext uri="{FF2B5EF4-FFF2-40B4-BE49-F238E27FC236}">
                <a16:creationId xmlns:a16="http://schemas.microsoft.com/office/drawing/2014/main" id="{4F907131-ABEA-AFCE-5DE0-BD81EC795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41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צילום מסך&#10;&#10;התיאור נוצר באופן אוטומטי">
            <a:extLst>
              <a:ext uri="{FF2B5EF4-FFF2-40B4-BE49-F238E27FC236}">
                <a16:creationId xmlns:a16="http://schemas.microsoft.com/office/drawing/2014/main" id="{CFB3EFBA-683D-1C27-F7C5-76980EDD85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 descr="תמונה שמכילה טקסט, עיצוב גרפי, צילום מסך, סרט מצויר&#10;&#10;התיאור נוצר באופן אוטומטי">
            <a:extLst>
              <a:ext uri="{FF2B5EF4-FFF2-40B4-BE49-F238E27FC236}">
                <a16:creationId xmlns:a16="http://schemas.microsoft.com/office/drawing/2014/main" id="{92F05F2B-072E-5805-485D-51879DFFE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81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צילום מסך, אדם, עיצוב גרפי, לבוש">
            <a:extLst>
              <a:ext uri="{FF2B5EF4-FFF2-40B4-BE49-F238E27FC236}">
                <a16:creationId xmlns:a16="http://schemas.microsoft.com/office/drawing/2014/main" id="{4DE639C0-58DD-4F57-68CD-162A49BF1F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998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with IP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לפון נייד, טקסט, גאדג'ט, אדם&#10;&#10;התיאור נוצר באופן אוטומטי">
            <a:extLst>
              <a:ext uri="{FF2B5EF4-FFF2-40B4-BE49-F238E27FC236}">
                <a16:creationId xmlns:a16="http://schemas.microsoft.com/office/drawing/2014/main" id="{792B0D25-5C5C-685A-7600-068F59385F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9BE51C3-FE2E-2E19-E1E8-357298DC84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5842000"/>
          </a:xfrm>
        </p:spPr>
        <p:txBody>
          <a:bodyPr wrap="square" anchor="ctr" anchorCtr="0">
            <a:noAutofit/>
          </a:bodyPr>
          <a:lstStyle>
            <a:lvl1pPr>
              <a:lnSpc>
                <a:spcPts val="6000"/>
              </a:lnSpc>
              <a:defRPr sz="6000" spc="-150"/>
            </a:lvl1pPr>
          </a:lstStyle>
          <a:p>
            <a:r>
              <a:rPr lang="en-GB"/>
              <a:t>Section Divider</a:t>
            </a:r>
            <a:br>
              <a:rPr lang="en-GB"/>
            </a:br>
            <a:r>
              <a:rPr lang="en-GB"/>
              <a:t>with IPs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06D9A5E-65D6-F40F-7AAA-6CD21A21D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956FF-B747-63EF-DA96-5B515A2D2F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600" y="6167603"/>
            <a:ext cx="252000" cy="54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28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py (Bullet) –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47696A-2C9B-3E9D-A092-1DCE91E6D7F1}"/>
              </a:ext>
            </a:extLst>
          </p:cNvPr>
          <p:cNvSpPr/>
          <p:nvPr userDrawn="1"/>
        </p:nvSpPr>
        <p:spPr>
          <a:xfrm>
            <a:off x="11423904" y="0"/>
            <a:ext cx="76809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73B838-CAF2-5B60-3E83-F88FDE5494E0}"/>
              </a:ext>
            </a:extLst>
          </p:cNvPr>
          <p:cNvSpPr/>
          <p:nvPr userDrawn="1"/>
        </p:nvSpPr>
        <p:spPr>
          <a:xfrm>
            <a:off x="0" y="0"/>
            <a:ext cx="1104753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3FF8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E5D4C99-89A6-6217-4610-B6C81F2177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16632"/>
            <a:ext cx="10395520" cy="431968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2800" spc="-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Headline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FE86A29B-C881-04AF-7738-D45295B553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091714"/>
            <a:ext cx="11430000" cy="7200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>
                    <a:lumMod val="50000"/>
                    <a:lumOff val="50000"/>
                  </a:schemeClr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Subhead 1</a:t>
            </a:r>
          </a:p>
          <a:p>
            <a:pPr lvl="0"/>
            <a:r>
              <a:rPr lang="en-GB"/>
              <a:t>Subhead 2</a:t>
            </a:r>
            <a:endParaRPr lang="en-US"/>
          </a:p>
        </p:txBody>
      </p:sp>
      <p:sp>
        <p:nvSpPr>
          <p:cNvPr id="16" name="Text Placeholder 22">
            <a:extLst>
              <a:ext uri="{FF2B5EF4-FFF2-40B4-BE49-F238E27FC236}">
                <a16:creationId xmlns:a16="http://schemas.microsoft.com/office/drawing/2014/main" id="{CC404B2C-452B-084D-C439-68D512F427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824440"/>
            <a:ext cx="11430000" cy="4392000"/>
          </a:xfrm>
          <a:prstGeom prst="rect">
            <a:avLst/>
          </a:prstGeo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 sz="2100" b="0" i="0">
                <a:ea typeface="OT Sono" pitchFamily="2" charset="77"/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 sz="1800" b="0" i="0">
                <a:ea typeface="OT Sono" pitchFamily="2" charset="77"/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 sz="1500" b="0" i="0">
                <a:ea typeface="OT Sono" pitchFamily="2" charset="77"/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 sz="1200" b="0" i="0">
                <a:ea typeface="OT Sono" pitchFamily="2" charset="77"/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 sz="1000" b="0" i="0">
                <a:ea typeface="OT Sono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AC253A-E82C-FF22-1356-005063374A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1607067" y="-51140"/>
            <a:ext cx="402658" cy="866984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BE7A429-D66A-72BD-9E51-747126CF2C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4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Bullet)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C18F8DE-DC17-24E1-CA24-16A8E23014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076188"/>
            <a:ext cx="5524500" cy="7200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>
                    <a:lumMod val="50000"/>
                    <a:lumOff val="50000"/>
                  </a:schemeClr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Subhead 1</a:t>
            </a:r>
          </a:p>
          <a:p>
            <a:pPr lvl="0"/>
            <a:r>
              <a:rPr lang="en-GB"/>
              <a:t>Subhead 2</a:t>
            </a:r>
            <a:endParaRPr lang="en-US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F1ED282D-30F7-9E89-2427-D9CC9A7510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808914"/>
            <a:ext cx="5524500" cy="4392000"/>
          </a:xfrm>
          <a:prstGeom prst="rect">
            <a:avLst/>
          </a:prstGeo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 sz="2100" b="0" i="0">
                <a:ea typeface="OT Sono" pitchFamily="2" charset="77"/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 sz="1800" b="0" i="0">
                <a:ea typeface="OT Sono" pitchFamily="2" charset="77"/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 sz="1500" b="0" i="0">
                <a:ea typeface="OT Sono" pitchFamily="2" charset="77"/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 sz="1200" b="0" i="0">
                <a:ea typeface="OT Sono" pitchFamily="2" charset="77"/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 sz="1000" b="0" i="0">
                <a:ea typeface="OT Sono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4C141B2-B040-590A-7C3D-D6FAA3D919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91294" y="1076188"/>
            <a:ext cx="5524500" cy="7200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>
                    <a:lumMod val="50000"/>
                    <a:lumOff val="50000"/>
                  </a:schemeClr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Subhead 1</a:t>
            </a:r>
          </a:p>
          <a:p>
            <a:pPr lvl="0"/>
            <a:r>
              <a:rPr lang="en-GB"/>
              <a:t>Subhead 2</a:t>
            </a:r>
            <a:endParaRPr lang="en-US"/>
          </a:p>
        </p:txBody>
      </p:sp>
      <p:sp>
        <p:nvSpPr>
          <p:cNvPr id="13" name="Text Placeholder 22">
            <a:extLst>
              <a:ext uri="{FF2B5EF4-FFF2-40B4-BE49-F238E27FC236}">
                <a16:creationId xmlns:a16="http://schemas.microsoft.com/office/drawing/2014/main" id="{AC495815-804F-AC1B-E9CC-EB1D726815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91294" y="1808914"/>
            <a:ext cx="5524500" cy="4392000"/>
          </a:xfrm>
          <a:prstGeom prst="rect">
            <a:avLst/>
          </a:prstGeom>
        </p:spPr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 sz="2100" b="0" i="0">
                <a:ea typeface="OT Sono" pitchFamily="2" charset="77"/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 sz="1800" b="0" i="0">
                <a:ea typeface="OT Sono" pitchFamily="2" charset="77"/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 sz="1500" b="0" i="0">
                <a:ea typeface="OT Sono" pitchFamily="2" charset="77"/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 sz="1200" b="0" i="0">
                <a:ea typeface="OT Sono" pitchFamily="2" charset="77"/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 sz="1000" b="0" i="0">
                <a:ea typeface="OT Sono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1BAC9A5-4316-34CF-38EC-199730F9D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937C82-706D-752E-42F2-3B6475943D50}"/>
              </a:ext>
            </a:extLst>
          </p:cNvPr>
          <p:cNvSpPr/>
          <p:nvPr userDrawn="1"/>
        </p:nvSpPr>
        <p:spPr>
          <a:xfrm>
            <a:off x="11423904" y="0"/>
            <a:ext cx="76809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4BAEB2-3063-701B-9EE9-BDEB62C8571A}"/>
              </a:ext>
            </a:extLst>
          </p:cNvPr>
          <p:cNvSpPr/>
          <p:nvPr userDrawn="1"/>
        </p:nvSpPr>
        <p:spPr>
          <a:xfrm>
            <a:off x="0" y="0"/>
            <a:ext cx="1104753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3FF8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8E9D0E9-5D4E-792F-554E-CEB00E7F1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16632"/>
            <a:ext cx="10395520" cy="431968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2800" spc="-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Headline</a:t>
            </a:r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B6D407-FB60-3F96-9DD6-3F774468D9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1607067" y="-51140"/>
            <a:ext cx="402658" cy="8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64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FBAE40"/>
          </p15:clr>
        </p15:guide>
        <p15:guide id="2" pos="7680">
          <p15:clr>
            <a:srgbClr val="FBAE40"/>
          </p15:clr>
        </p15:guide>
        <p15:guide id="3" pos="240">
          <p15:clr>
            <a:srgbClr val="FBAE40"/>
          </p15:clr>
        </p15:guide>
        <p15:guide id="4" pos="3720">
          <p15:clr>
            <a:srgbClr val="FBAE40"/>
          </p15:clr>
        </p15:guide>
        <p15:guide id="5" pos="3960">
          <p15:clr>
            <a:srgbClr val="FBAE40"/>
          </p15:clr>
        </p15:guide>
        <p15:guide id="6" pos="7440">
          <p15:clr>
            <a:srgbClr val="FBAE40"/>
          </p15:clr>
        </p15:guide>
        <p15:guide id="7" orient="horz">
          <p15:clr>
            <a:srgbClr val="FBAE40"/>
          </p15:clr>
        </p15:guide>
        <p15:guide id="8" orient="horz" pos="4320">
          <p15:clr>
            <a:srgbClr val="FBAE40"/>
          </p15:clr>
        </p15:guide>
        <p15:guide id="9" orient="horz" pos="240">
          <p15:clr>
            <a:srgbClr val="FBAE40"/>
          </p15:clr>
        </p15:guide>
        <p15:guide id="10" orient="horz" pos="39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36AF89D7-2FEB-7BA4-6C08-95E7DA1DE3A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764704"/>
            <a:ext cx="6096000" cy="6093296"/>
          </a:xfrm>
          <a:prstGeom prst="rect">
            <a:avLst/>
          </a:prstGeom>
          <a:solidFill>
            <a:schemeClr val="tx1">
              <a:lumMod val="50000"/>
              <a:lumOff val="50000"/>
              <a:alpha val="20029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800" b="0" i="0">
                <a:latin typeface="+mn-lt"/>
                <a:ea typeface="OT Sono" pitchFamily="2" charset="77"/>
              </a:defRPr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AB6053E-0CC9-F0CB-E563-FD30C91EFB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091714"/>
            <a:ext cx="5524500" cy="7200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>
                    <a:lumMod val="50000"/>
                    <a:lumOff val="50000"/>
                  </a:schemeClr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Subhead 1</a:t>
            </a:r>
          </a:p>
          <a:p>
            <a:pPr lvl="0"/>
            <a:r>
              <a:rPr lang="en-GB"/>
              <a:t>Subhead 2</a:t>
            </a:r>
            <a:endParaRPr lang="en-US"/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D83F2EC8-9D8A-DA7D-2185-639838856C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1824440"/>
            <a:ext cx="5524500" cy="439200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1">
                  <a:lumMod val="50000"/>
                  <a:lumOff val="50000"/>
                </a:schemeClr>
              </a:buClr>
              <a:buNone/>
              <a:defRPr sz="2100" b="0" i="0">
                <a:ea typeface="OT Sono" pitchFamily="2" charset="77"/>
              </a:defRPr>
            </a:lvl1pPr>
            <a:lvl2pPr marL="266400" indent="0">
              <a:buClr>
                <a:schemeClr val="tx1">
                  <a:lumMod val="50000"/>
                  <a:lumOff val="50000"/>
                </a:schemeClr>
              </a:buClr>
              <a:buNone/>
              <a:defRPr sz="1800"/>
            </a:lvl2pPr>
            <a:lvl3pPr marL="525600" indent="0">
              <a:buClr>
                <a:schemeClr val="tx1">
                  <a:lumMod val="50000"/>
                  <a:lumOff val="50000"/>
                </a:schemeClr>
              </a:buClr>
              <a:buNone/>
              <a:defRPr sz="1500"/>
            </a:lvl3pPr>
            <a:lvl4pPr marL="756000" indent="0">
              <a:buClr>
                <a:schemeClr val="tx1">
                  <a:lumMod val="50000"/>
                  <a:lumOff val="50000"/>
                </a:schemeClr>
              </a:buClr>
              <a:buNone/>
              <a:defRPr sz="1200"/>
            </a:lvl4pPr>
            <a:lvl5pPr marL="972000" indent="0">
              <a:buClr>
                <a:schemeClr val="tx1">
                  <a:lumMod val="50000"/>
                  <a:lumOff val="50000"/>
                </a:schemeClr>
              </a:buClr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1FF27F7-3C87-C6C3-45C6-08C589721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F071A9-AC1D-46F9-3DC0-171FA4DC8364}"/>
              </a:ext>
            </a:extLst>
          </p:cNvPr>
          <p:cNvSpPr/>
          <p:nvPr userDrawn="1"/>
        </p:nvSpPr>
        <p:spPr>
          <a:xfrm>
            <a:off x="11423904" y="0"/>
            <a:ext cx="76809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11D01E-201D-87D6-9B0D-92A357090110}"/>
              </a:ext>
            </a:extLst>
          </p:cNvPr>
          <p:cNvSpPr/>
          <p:nvPr userDrawn="1"/>
        </p:nvSpPr>
        <p:spPr>
          <a:xfrm>
            <a:off x="0" y="0"/>
            <a:ext cx="1104753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3FF80"/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6F0B75B-F5D5-44F8-CFF1-84E430D5B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16632"/>
            <a:ext cx="10395520" cy="431968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2800" spc="-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Headline</a:t>
            </a:r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A5E845-6B05-18B7-5562-7DC13E3B1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1607067" y="-51140"/>
            <a:ext cx="402658" cy="8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88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D98D5DC-5C93-2395-9CC6-85DA7B5B72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1011487"/>
            <a:ext cx="11430000" cy="675439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>
                    <a:lumMod val="50000"/>
                    <a:lumOff val="50000"/>
                  </a:schemeClr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Subhead 1</a:t>
            </a:r>
          </a:p>
          <a:p>
            <a:pPr lvl="0"/>
            <a:r>
              <a:rPr lang="en-GB"/>
              <a:t>Subhead 2</a:t>
            </a:r>
            <a:endParaRPr lang="en-US"/>
          </a:p>
        </p:txBody>
      </p:sp>
      <p:sp>
        <p:nvSpPr>
          <p:cNvPr id="2" name="Chart Placeholder 6">
            <a:extLst>
              <a:ext uri="{FF2B5EF4-FFF2-40B4-BE49-F238E27FC236}">
                <a16:creationId xmlns:a16="http://schemas.microsoft.com/office/drawing/2014/main" id="{CA7DE732-0CF4-4578-F4A6-95CC97433B95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81000" y="1731486"/>
            <a:ext cx="11430000" cy="3810629"/>
          </a:xfrm>
        </p:spPr>
        <p:txBody>
          <a:bodyPr anchor="ctr" anchorCtr="1"/>
          <a:lstStyle>
            <a:lvl1pPr marL="0" indent="0">
              <a:buNone/>
              <a:defRPr b="0" i="0">
                <a:solidFill>
                  <a:schemeClr val="tx1"/>
                </a:solidFill>
                <a:ea typeface="OT Sono" pitchFamily="2" charset="77"/>
              </a:defRPr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08E262-D031-8951-C5FB-533B1B553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2C37B0-B46A-0909-6040-BF78EEF8798E}"/>
              </a:ext>
            </a:extLst>
          </p:cNvPr>
          <p:cNvSpPr/>
          <p:nvPr userDrawn="1"/>
        </p:nvSpPr>
        <p:spPr>
          <a:xfrm>
            <a:off x="11423904" y="0"/>
            <a:ext cx="76809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21BE51-A8E4-4BAB-544E-332AA0B51F2C}"/>
              </a:ext>
            </a:extLst>
          </p:cNvPr>
          <p:cNvSpPr/>
          <p:nvPr userDrawn="1"/>
        </p:nvSpPr>
        <p:spPr>
          <a:xfrm>
            <a:off x="0" y="0"/>
            <a:ext cx="11047536" cy="764704"/>
          </a:xfrm>
          <a:prstGeom prst="rect">
            <a:avLst/>
          </a:prstGeom>
          <a:solidFill>
            <a:srgbClr val="00AA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3FF8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CEB48EA-27F4-06A6-D523-92D5450F54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16632"/>
            <a:ext cx="10395520" cy="431968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2800" spc="-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Headline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38CC11-2095-E791-3018-43F043BC05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1607067" y="-51140"/>
            <a:ext cx="402658" cy="8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557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osi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CB6BA-5A1A-2D8D-F78F-8D636E8A5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F759185-00F6-C0C7-A964-331267EAA1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9696" y="692696"/>
            <a:ext cx="5472608" cy="5472608"/>
          </a:xfrm>
          <a:prstGeom prst="rect">
            <a:avLst/>
          </a:prstGeom>
        </p:spPr>
        <p:txBody>
          <a:bodyPr wrap="square" lIns="360000" tIns="288000" rIns="360000" bIns="360000" anchor="t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0" i="0">
                <a:solidFill>
                  <a:schemeClr val="tx1"/>
                </a:solidFill>
                <a:latin typeface="+mj-lt"/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SG"/>
              <a:t>Lorem ipsum </a:t>
            </a:r>
            <a:r>
              <a:rPr lang="en-SG" err="1"/>
              <a:t>dolor</a:t>
            </a:r>
            <a:r>
              <a:rPr lang="en-SG"/>
              <a:t> sit </a:t>
            </a:r>
            <a:r>
              <a:rPr lang="en-SG" err="1"/>
              <a:t>amet</a:t>
            </a:r>
            <a:r>
              <a:rPr lang="en-SG"/>
              <a:t>, </a:t>
            </a:r>
            <a:r>
              <a:rPr lang="en-SG" err="1"/>
              <a:t>consectetur</a:t>
            </a:r>
            <a:r>
              <a:rPr lang="en-SG"/>
              <a:t> </a:t>
            </a:r>
            <a:r>
              <a:rPr lang="en-SG" err="1"/>
              <a:t>adipiscing</a:t>
            </a:r>
            <a:r>
              <a:rPr lang="en-SG"/>
              <a:t> </a:t>
            </a:r>
            <a:r>
              <a:rPr lang="en-SG" err="1"/>
              <a:t>elit</a:t>
            </a:r>
            <a:r>
              <a:rPr lang="en-SG"/>
              <a:t>. </a:t>
            </a:r>
            <a:r>
              <a:rPr lang="en-SG" err="1"/>
              <a:t>Praesent</a:t>
            </a:r>
            <a:r>
              <a:rPr lang="en-SG"/>
              <a:t> sit </a:t>
            </a:r>
            <a:r>
              <a:rPr lang="en-SG" err="1"/>
              <a:t>amet</a:t>
            </a:r>
            <a:r>
              <a:rPr lang="en-SG"/>
              <a:t> </a:t>
            </a:r>
            <a:r>
              <a:rPr lang="en-SG" err="1"/>
              <a:t>tortor</a:t>
            </a:r>
            <a:r>
              <a:rPr lang="en-SG"/>
              <a:t> </a:t>
            </a:r>
            <a:r>
              <a:rPr lang="en-SG" err="1"/>
              <a:t>vel</a:t>
            </a:r>
            <a:r>
              <a:rPr lang="en-SG"/>
              <a:t> </a:t>
            </a:r>
            <a:r>
              <a:rPr lang="en-SG" err="1"/>
              <a:t>nisl</a:t>
            </a:r>
            <a:r>
              <a:rPr lang="en-SG"/>
              <a:t> </a:t>
            </a:r>
            <a:r>
              <a:rPr lang="en-SG" err="1"/>
              <a:t>vehicula</a:t>
            </a:r>
            <a:r>
              <a:rPr lang="en-SG"/>
              <a:t> </a:t>
            </a:r>
            <a:r>
              <a:rPr lang="en-SG" err="1"/>
              <a:t>feugiat</a:t>
            </a:r>
            <a:r>
              <a:rPr lang="en-SG"/>
              <a:t>. </a:t>
            </a:r>
            <a:r>
              <a:rPr lang="en-SG" err="1"/>
              <a:t>Suspen</a:t>
            </a:r>
            <a:r>
              <a:rPr lang="en-SG"/>
              <a:t> </a:t>
            </a:r>
            <a:r>
              <a:rPr lang="en-SG" err="1"/>
              <a:t>porttitor</a:t>
            </a:r>
            <a:r>
              <a:rPr lang="en-SG"/>
              <a:t> </a:t>
            </a:r>
            <a:r>
              <a:rPr lang="en-SG" err="1"/>
              <a:t>felis</a:t>
            </a:r>
            <a:r>
              <a:rPr lang="en-SG"/>
              <a:t> </a:t>
            </a:r>
            <a:r>
              <a:rPr lang="en-SG" err="1"/>
              <a:t>neque</a:t>
            </a:r>
            <a:r>
              <a:rPr lang="en-SG"/>
              <a:t>.</a:t>
            </a:r>
          </a:p>
          <a:p>
            <a:pPr lvl="0"/>
            <a:endParaRPr lang="en-SG"/>
          </a:p>
          <a:p>
            <a:pPr lvl="0"/>
            <a:r>
              <a:rPr lang="en-SG" err="1"/>
              <a:t>Praesent</a:t>
            </a:r>
            <a:r>
              <a:rPr lang="en-SG"/>
              <a:t> sit </a:t>
            </a:r>
            <a:r>
              <a:rPr lang="en-SG" err="1"/>
              <a:t>amet</a:t>
            </a:r>
            <a:r>
              <a:rPr lang="en-SG"/>
              <a:t> </a:t>
            </a:r>
            <a:r>
              <a:rPr lang="en-SG" err="1"/>
              <a:t>tortor</a:t>
            </a:r>
            <a:r>
              <a:rPr lang="en-SG"/>
              <a:t> </a:t>
            </a:r>
            <a:r>
              <a:rPr lang="en-SG" err="1"/>
              <a:t>vel</a:t>
            </a:r>
            <a:r>
              <a:rPr lang="en-SG"/>
              <a:t>, </a:t>
            </a:r>
            <a:br>
              <a:rPr lang="en-SG"/>
            </a:br>
            <a:r>
              <a:rPr lang="en-SG"/>
              <a:t>in </a:t>
            </a:r>
            <a:r>
              <a:rPr lang="en-SG" err="1"/>
              <a:t>euismod</a:t>
            </a:r>
            <a:r>
              <a:rPr lang="en-SG"/>
              <a:t> eros </a:t>
            </a:r>
            <a:r>
              <a:rPr lang="en-SG" err="1"/>
              <a:t>luctus</a:t>
            </a:r>
            <a:r>
              <a:rPr lang="en-SG"/>
              <a:t> vitae.</a:t>
            </a:r>
          </a:p>
          <a:p>
            <a:pPr lvl="0"/>
            <a:r>
              <a:rPr lang="en-GB"/>
              <a:t>— Quote</a:t>
            </a: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FFD149-C9F8-DC3C-7032-F90D53163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7536" y="6480000"/>
            <a:ext cx="763464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OT Sono" pitchFamily="2" charset="77"/>
              </a:defRPr>
            </a:lvl1pPr>
          </a:lstStyle>
          <a:p>
            <a:fld id="{F3EBEBC6-7EBE-2F48-92F7-93CB964835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490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Posi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199906-DB2A-7DD6-A5A5-0797F845C49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l="4" r="4"/>
          <a:stretch/>
        </p:blipFill>
        <p:spPr>
          <a:xfrm>
            <a:off x="0" y="-1"/>
            <a:ext cx="1219094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F51A97A-FEE8-7648-9886-12B8E2FE3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3048000"/>
          </a:xfrm>
        </p:spPr>
        <p:txBody>
          <a:bodyPr wrap="square" anchor="b" anchorCtr="0">
            <a:noAutofit/>
          </a:bodyPr>
          <a:lstStyle>
            <a:lvl1pPr>
              <a:lnSpc>
                <a:spcPts val="6000"/>
              </a:lnSpc>
              <a:defRPr sz="9000" spc="-150"/>
            </a:lvl1pPr>
          </a:lstStyle>
          <a:p>
            <a:r>
              <a:rPr lang="en-GB"/>
              <a:t>Thank you.</a:t>
            </a:r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E05029-5408-BD2E-CF92-09BCFBD534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3429000"/>
            <a:ext cx="11430000" cy="7200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00" b="0" i="0">
                <a:solidFill>
                  <a:schemeClr val="tx1"/>
                </a:solidFill>
                <a:ea typeface="OT Sono" pitchFamily="2" charset="77"/>
              </a:defRPr>
            </a:lvl1pPr>
            <a:lvl2pPr marL="288000" indent="0">
              <a:buNone/>
              <a:defRPr/>
            </a:lvl2pPr>
            <a:lvl3pPr marL="576000" indent="0">
              <a:buNone/>
              <a:defRPr/>
            </a:lvl3pPr>
            <a:lvl4pPr marL="900000" indent="0">
              <a:buNone/>
              <a:defRPr/>
            </a:lvl4pPr>
            <a:lvl5pPr marL="1152000" indent="0">
              <a:buNone/>
              <a:defRPr/>
            </a:lvl5pPr>
          </a:lstStyle>
          <a:p>
            <a:pPr lvl="0"/>
            <a:r>
              <a:rPr lang="en-GB"/>
              <a:t>Click here to add closing line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17E87-1B2A-2B27-3435-F0C688599741}"/>
              </a:ext>
            </a:extLst>
          </p:cNvPr>
          <p:cNvPicPr/>
          <p:nvPr userDrawn="1"/>
        </p:nvPicPr>
        <p:blipFill>
          <a:blip r:embed="rId3"/>
          <a:srcRect t="9260" b="9260"/>
          <a:stretch/>
        </p:blipFill>
        <p:spPr>
          <a:xfrm>
            <a:off x="180000" y="5389200"/>
            <a:ext cx="218316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8824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0DABD2-62B4-F015-C0A4-DE9BA7FA1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99167"/>
            <a:ext cx="11430000" cy="132556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A147BF-1CBB-0955-B649-E6D4C098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765829"/>
            <a:ext cx="11430000" cy="4457172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7395-64F5-2652-138F-A706A591D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480000"/>
            <a:ext cx="27432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r">
              <a:defRPr sz="800" b="0" i="0">
                <a:solidFill>
                  <a:schemeClr val="bg1">
                    <a:lumMod val="50000"/>
                  </a:schemeClr>
                </a:solidFill>
                <a:latin typeface="+mn-lt"/>
                <a:ea typeface="OT Sono" pitchFamily="2" charset="77"/>
              </a:defRPr>
            </a:lvl1pPr>
          </a:lstStyle>
          <a:p>
            <a:fld id="{7442D01A-B918-474C-9BE0-69D898A11E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6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7" r:id="rId2"/>
    <p:sldLayoutId id="2147483688" r:id="rId3"/>
    <p:sldLayoutId id="2147483660" r:id="rId4"/>
    <p:sldLayoutId id="2147483669" r:id="rId5"/>
    <p:sldLayoutId id="2147483670" r:id="rId6"/>
    <p:sldLayoutId id="2147483662" r:id="rId7"/>
    <p:sldLayoutId id="2147483666" r:id="rId8"/>
    <p:sldLayoutId id="2147483667" r:id="rId9"/>
    <p:sldLayoutId id="2147483696" r:id="rId10"/>
    <p:sldLayoutId id="2147483702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692" r:id="rId17"/>
    <p:sldLayoutId id="2147483693" r:id="rId18"/>
    <p:sldLayoutId id="2147483694" r:id="rId19"/>
    <p:sldLayoutId id="2147483695" r:id="rId20"/>
    <p:sldLayoutId id="2147483680" r:id="rId21"/>
    <p:sldLayoutId id="2147483690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3000" spc="-50" baseline="0">
          <a:solidFill>
            <a:schemeClr val="tx1"/>
          </a:solidFill>
          <a:latin typeface="+mj-lt"/>
          <a:ea typeface="OT Sono Unlicensed Trial Medium" pitchFamily="2" charset="77"/>
          <a:cs typeface="+mj-cs"/>
        </a:defRPr>
      </a:lvl1pPr>
    </p:titleStyle>
    <p:bodyStyle>
      <a:lvl1pPr marL="266400" indent="-266400" algn="l" defTabSz="914400" rtl="0" eaLnBrk="1" latinLnBrk="0" hangingPunct="1">
        <a:lnSpc>
          <a:spcPct val="95000"/>
        </a:lnSpc>
        <a:spcBef>
          <a:spcPts val="0"/>
        </a:spcBef>
        <a:buClr>
          <a:schemeClr val="tx1">
            <a:lumMod val="50000"/>
            <a:lumOff val="50000"/>
          </a:schemeClr>
        </a:buClr>
        <a:buSzPct val="100000"/>
        <a:buFont typeface="Arial" panose="020B0604020202020204" pitchFamily="34" charset="0"/>
        <a:buChar char="•"/>
        <a:defRPr sz="2100" b="0" i="0" kern="1500" spc="0" baseline="0">
          <a:solidFill>
            <a:schemeClr val="tx1"/>
          </a:solidFill>
          <a:latin typeface="+mn-lt"/>
          <a:ea typeface="OT Sono" pitchFamily="2" charset="77"/>
          <a:cs typeface="+mn-cs"/>
        </a:defRPr>
      </a:lvl1pPr>
      <a:lvl2pPr marL="532800" indent="-26640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Clr>
          <a:schemeClr val="tx1">
            <a:lumMod val="50000"/>
            <a:lumOff val="50000"/>
          </a:schemeClr>
        </a:buClr>
        <a:buSzPct val="95000"/>
        <a:buFont typeface="Wingdings" pitchFamily="2" charset="2"/>
        <a:buChar char="§"/>
        <a:tabLst>
          <a:tab pos="2257425" algn="l"/>
        </a:tabLst>
        <a:defRPr sz="1800" b="0" i="0" kern="1500" spc="0" baseline="0">
          <a:solidFill>
            <a:schemeClr val="tx1"/>
          </a:solidFill>
          <a:latin typeface="+mn-lt"/>
          <a:ea typeface="OT Sono" pitchFamily="2" charset="77"/>
          <a:cs typeface="+mn-cs"/>
        </a:defRPr>
      </a:lvl2pPr>
      <a:lvl3pPr marL="756000" indent="-230400" algn="l" defTabSz="914400" rtl="0" eaLnBrk="1" latinLnBrk="0" hangingPunct="1">
        <a:lnSpc>
          <a:spcPct val="95000"/>
        </a:lnSpc>
        <a:spcBef>
          <a:spcPts val="600"/>
        </a:spcBef>
        <a:buClr>
          <a:schemeClr val="tx1">
            <a:lumMod val="50000"/>
            <a:lumOff val="50000"/>
          </a:schemeClr>
        </a:buClr>
        <a:buSzPct val="100000"/>
        <a:buFont typeface="Arial" panose="020B0604020202020204" pitchFamily="34" charset="0"/>
        <a:buChar char="•"/>
        <a:defRPr sz="1500" b="0" i="0" kern="1500" spc="0" baseline="0">
          <a:solidFill>
            <a:schemeClr val="tx1"/>
          </a:solidFill>
          <a:latin typeface="+mn-lt"/>
          <a:ea typeface="OT Sono" pitchFamily="2" charset="77"/>
          <a:cs typeface="+mn-cs"/>
        </a:defRPr>
      </a:lvl3pPr>
      <a:lvl4pPr marL="972000" indent="-216000" algn="l" defTabSz="914400" rtl="0" eaLnBrk="1" latinLnBrk="0" hangingPunct="1">
        <a:lnSpc>
          <a:spcPct val="95000"/>
        </a:lnSpc>
        <a:spcBef>
          <a:spcPts val="800"/>
        </a:spcBef>
        <a:buClr>
          <a:schemeClr val="tx1">
            <a:lumMod val="50000"/>
            <a:lumOff val="50000"/>
          </a:schemeClr>
        </a:buClr>
        <a:buSzPct val="95000"/>
        <a:buFont typeface="Wingdings" pitchFamily="2" charset="2"/>
        <a:buChar char="§"/>
        <a:defRPr sz="1200" b="0" i="0" kern="1500" spc="0" baseline="0">
          <a:solidFill>
            <a:schemeClr val="tx1"/>
          </a:solidFill>
          <a:latin typeface="+mn-lt"/>
          <a:ea typeface="OT Sono" pitchFamily="2" charset="77"/>
          <a:cs typeface="+mn-cs"/>
        </a:defRPr>
      </a:lvl4pPr>
      <a:lvl5pPr marL="1152000" indent="-180000" algn="l" defTabSz="914400" rtl="0" eaLnBrk="1" latinLnBrk="0" hangingPunct="1">
        <a:lnSpc>
          <a:spcPct val="95000"/>
        </a:lnSpc>
        <a:spcBef>
          <a:spcPts val="1000"/>
        </a:spcBef>
        <a:buClr>
          <a:schemeClr val="tx1">
            <a:lumMod val="50000"/>
            <a:lumOff val="50000"/>
          </a:schemeClr>
        </a:buClr>
        <a:buSzPct val="100000"/>
        <a:buFont typeface="Arial" panose="020B0604020202020204" pitchFamily="34" charset="0"/>
        <a:buChar char="•"/>
        <a:tabLst>
          <a:tab pos="4348163" algn="l"/>
        </a:tabLst>
        <a:defRPr sz="1000" b="0" i="0" kern="1500" spc="0" baseline="0">
          <a:solidFill>
            <a:schemeClr val="tx1"/>
          </a:solidFill>
          <a:latin typeface="+mn-lt"/>
          <a:ea typeface="OT Sono" pitchFamily="2" charset="7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240" userDrawn="1">
          <p15:clr>
            <a:srgbClr val="F26B43"/>
          </p15:clr>
        </p15:guide>
        <p15:guide id="8" orient="horz" pos="392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6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63EB"/>
                </a:solidFill>
              </a:rPr>
              <a:t>One Link Remote Administration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</a:rPr>
              <a:t>Feature Overview Document — Release 1.0.0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</a:rPr>
              <a:t>Project: One Link Administrator Tool (Foreman) — cxs-devops-OnelinkAdministratorTool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210312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Foreman is a single-file PowerShell + WPF desktop application, compiled to one standalone .exe, that manages a fleet of One Link servers over SSH from one Windows GUI.</a:t>
            </a:r>
          </a:p>
          <a:p>
            <a:pPr>
              <a:spcAft>
                <a:spcPts val="800"/>
              </a:spcAft>
            </a:pPr>
            <a:r>
              <a:rPr sz="1500"/>
              <a:t>Replaces juggling PuTTY, WinSCP, and each server's own nmenu text-menu tool separately for every deployment and admin task.</a:t>
            </a:r>
          </a:p>
          <a:p>
            <a:pPr>
              <a:spcAft>
                <a:spcPts val="800"/>
              </a:spcAft>
            </a:pPr>
            <a:r>
              <a:rPr sz="1500"/>
              <a:t>Four operation tabs — Database, Certificates, Package, and a hidden Metrics tab — plus a built-in File Editor and SSH Console.</a:t>
            </a:r>
          </a:p>
          <a:p>
            <a:pPr>
              <a:spcAft>
                <a:spcPts val="800"/>
              </a:spcAft>
            </a:pPr>
            <a:r>
              <a:rPr sz="1500"/>
              <a:t>Everything needed is embedded (UI, default config, the SSH engine) — copy the .exe, run it, nothing else to install.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877" y="3291840"/>
            <a:ext cx="6310245" cy="324612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Purpose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640080" y="1188720"/>
            <a:ext cx="10911840" cy="512064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1700"/>
              <a:t>Primary mission: give One Link admins one guided tool to connect to, configure, and maintain AppServer, Concentrator, Report Server, nConnect, and MySQL/MariaDB database servers — without hand-typed SSH commands.</a:t>
            </a:r>
          </a:p>
          <a:p>
            <a:pPr>
              <a:spcAft>
                <a:spcPts val="1200"/>
              </a:spcAft>
            </a:pPr>
            <a:r>
              <a:rPr sz="1700"/>
              <a:t>Multi-server by design: every server row can be marked with one or more roles; most actions run across every selected, connected server at once, with a per-server success/failure summary.</a:t>
            </a:r>
          </a:p>
          <a:p>
            <a:pPr>
              <a:spcAft>
                <a:spcPts val="1200"/>
              </a:spcAft>
            </a:pPr>
            <a:r>
              <a:rPr sz="1700"/>
              <a:t>Standalone deployment: the entire application — layout, logic, and the SSH library it depends on — is embedded in a single .exe. No PowerShell module install, no admin rights, no internet connection required on the target machine.</a:t>
            </a:r>
          </a:p>
          <a:p>
            <a:pPr>
              <a:spcAft>
                <a:spcPts val="1200"/>
              </a:spcAft>
            </a:pPr>
            <a:r>
              <a:rPr sz="1700"/>
              <a:t>Built from real, measured usage: every click and field edit can be captured by the built-in Efficiency Recorder, which produced the time/steps comparison data later in this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Inventory &amp;</a:t>
            </a:r>
            <a:br/>
            <a:r>
              <a:t>Connectivity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Login for All Servers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Bulk-set the SSH username and/or password across every server row in one dialog, instead of retyping credentials per row.</a:t>
            </a:r>
          </a:p>
          <a:p>
            <a:pPr>
              <a:spcAft>
                <a:spcPts val="800"/>
              </a:spcAft>
            </a:pPr>
            <a:r>
              <a:rPr sz="1500"/>
              <a:t>Leaving a field blank keeps that row's existing value.</a:t>
            </a:r>
          </a:p>
          <a:p>
            <a:pPr>
              <a:spcAft>
                <a:spcPts val="800"/>
              </a:spcAft>
            </a:pPr>
            <a:r>
              <a:rPr sz="1500"/>
              <a:t>‘Apply to selected rows only’ restricts the change to the rows currently selected in the grid; otherwise it applies to every row.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2743200"/>
            <a:ext cx="7900497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Marking Server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Each server IP is marked with one or more purposes: AppServer, Concentrator, Report Server, nConnect, WebEvents, Database master/slave, or Auxiliary Service.</a:t>
            </a:r>
          </a:p>
          <a:p>
            <a:pPr>
              <a:spcAft>
                <a:spcPts val="800"/>
              </a:spcAft>
            </a:pPr>
            <a:r>
              <a:rPr sz="1500"/>
              <a:t>Role marks drive everything downstream — which services appear in the Service Installer, which package gets matched during deployment, and which servers are eligible as a Database target.</a:t>
            </a:r>
          </a:p>
          <a:p>
            <a:pPr>
              <a:spcAft>
                <a:spcPts val="800"/>
              </a:spcAft>
            </a:pPr>
            <a:r>
              <a:rPr sz="1500"/>
              <a:t>Auxiliary Service is for non-One Link software (nginx, PostgreSQL, a custom package) on the same box — its systemd units are auto-discovered rather than hardcoded.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009" y="2743200"/>
            <a:ext cx="8019982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Connect, Health &amp; Status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Connect All opens SSH sessions to every server with an IP and credentials; a live status line tracks how many are connected.</a:t>
            </a:r>
          </a:p>
          <a:p>
            <a:pPr>
              <a:spcAft>
                <a:spcPts val="800"/>
              </a:spcAft>
            </a:pPr>
            <a:r>
              <a:rPr sz="1500"/>
              <a:t>Each row's disk and memory health is polled and shown as a coloured pill — green OK, amber CAUTION, red CRITICAL — refreshed on connect and on demand.</a:t>
            </a:r>
          </a:p>
          <a:p>
            <a:pPr>
              <a:spcAft>
                <a:spcPts val="800"/>
              </a:spcAft>
            </a:pPr>
            <a:r>
              <a:rPr sz="1500">
                <a:solidFill/>
              </a:rPr>
              <a:t>Passwordless sudo is bootstrapped automatically at connect time using the login credentials already entered, so later operations never prompt for a password.</a:t>
            </a:r>
          </a:p>
          <a:p>
            <a:pPr>
              <a:spcAft>
                <a:spcPts val="800"/>
              </a:spcAft>
            </a:pPr>
            <a:r>
              <a:rPr sz="1500"/>
              <a:t>A footer ‘Reset Tool’ button recovers from a stale/stuck SSH session (the tool sitting open a long time) by clearing every connection and any stuck job flag — without closing Foreman or losing the server list, settings, or package plan.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17" y="2743200"/>
            <a:ext cx="7376765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Operations</a:t>
            </a:r>
            <a:br/>
            <a:r>
              <a:t>Walkthrough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 — Create &amp; Grant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Create Database and Create DB User check first whether the target already exists and report it plainly, instead of silently recreating or resetting a password.</a:t>
            </a:r>
          </a:p>
          <a:p>
            <a:pPr>
              <a:spcAft>
                <a:spcPts val="800"/>
              </a:spcAft>
            </a:pPr>
            <a:r>
              <a:rPr sz="1500"/>
              <a:t>Grant Admin Privileges creates the account if it doesn't exist (MySQL 8 requires this explicitly), then grants — the password field is optional, so a grant can be applied without touching an existing account's password.</a:t>
            </a:r>
          </a:p>
          <a:p>
            <a:pPr>
              <a:spcAft>
                <a:spcPts val="800"/>
              </a:spcAft>
            </a:pPr>
            <a:r>
              <a:rPr sz="1500"/>
              <a:t>‘Refresh users / databases’ populates every dropdown live from the target's real MySQL — root and MySQL's own internal accounts are filtered out for safety.</a:t>
            </a:r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88" y="2743200"/>
            <a:ext cx="11116624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Tab — Tuning, Scripts &amp; Backups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InnoDB Buffer Pool: reads the server's RAM, computes a safe maximum (75%), and applies the change with an automatic config backup and rollback if MySQL fails to restart.</a:t>
            </a:r>
          </a:p>
          <a:p>
            <a:pPr>
              <a:spcAft>
                <a:spcPts val="800"/>
              </a:spcAft>
            </a:pPr>
            <a:r>
              <a:rPr sz="1500"/>
              <a:t>Run SQL Script: searches the whole server for a matching .sql file by name and runs it in the background with a live progress window and plain-English error hints.</a:t>
            </a:r>
          </a:p>
          <a:p>
            <a:pPr>
              <a:spcAft>
                <a:spcPts val="800"/>
              </a:spcAft>
            </a:pPr>
            <a:r>
              <a:rPr sz="1500"/>
              <a:t>Backup (Export) / Restore (Import): to a path on the server, to this PC, to a network share, or directly between two VMs — all as background jobs with a Stop button.</a:t>
            </a:r>
          </a:p>
        </p:txBody>
      </p:sp>
      <p:pic>
        <p:nvPicPr>
          <p:cNvPr id="4" name="Picture 3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11" y="2743200"/>
            <a:ext cx="10666977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Certificates 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Deploy Certificate uploads a local or network certificate/keystore file and installs it to any destination path on the target server.</a:t>
            </a:r>
          </a:p>
          <a:p>
            <a:pPr>
              <a:spcAft>
                <a:spcPts val="800"/>
              </a:spcAft>
            </a:pPr>
            <a:r>
              <a:rPr sz="1500"/>
              <a:t>Certificate status is read by content, not file extension — a certificate, key, CSR, or keystore is correctly identified even when its name is misleading.</a:t>
            </a:r>
          </a:p>
          <a:p>
            <a:pPr>
              <a:spcAft>
                <a:spcPts val="800"/>
              </a:spcAft>
            </a:pPr>
            <a:r>
              <a:rPr sz="1500">
                <a:solidFill/>
              </a:rPr>
              <a:t>List files scans a folder on the server for matching certificate/key types so the exact filename doesn't need to be known in advance.</a:t>
            </a:r>
          </a:p>
          <a:p>
            <a:pPr>
              <a:spcAft>
                <a:spcPts val="800"/>
              </a:spcAft>
            </a:pPr>
            <a:r>
              <a:rPr sz="1500"/>
              <a:t>Before overwriting, Deploy can back up whatever file already exists at the destination — to this PC or to a folder on the server itself, your choice.</a:t>
            </a:r>
          </a:p>
        </p:txBody>
      </p:sp>
      <p:pic>
        <p:nvPicPr>
          <p:cNvPr id="4" name="Picture 3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91" y="2743200"/>
            <a:ext cx="10824018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Tab — Service Installer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One checklist covers every service relevant to the selected servers' roles, with search and Select all / Deselect all.</a:t>
            </a:r>
          </a:p>
          <a:p>
            <a:pPr>
              <a:spcAft>
                <a:spcPts val="800"/>
              </a:spcAft>
            </a:pPr>
            <a:r>
              <a:rPr sz="1500"/>
              <a:t>Restart / Stop show a pre-check of which services are actually installed on each target before acting, so nothing runs against a server that doesn't have that service.</a:t>
            </a:r>
          </a:p>
          <a:p>
            <a:pPr>
              <a:spcAft>
                <a:spcPts val="800"/>
              </a:spcAft>
            </a:pPr>
            <a:r>
              <a:rPr sz="1500"/>
              <a:t>Check Details (version) reports installed package versions per server in one aligned report.</a:t>
            </a:r>
          </a:p>
        </p:txBody>
      </p:sp>
      <p:pic>
        <p:nvPicPr>
          <p:cNvPr id="4" name="Picture 3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52280"/>
            <a:ext cx="11186160" cy="377660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Tab — Deployment Plan &amp; Install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300">
                <a:solidFill/>
              </a:rPr>
              <a:t>Build / Refresh Plan matches every connected, role-marked server to the right package file automatically, by filename pattern AND the server's actual OS — folders are searched recursively, and a role with nothing built for that OS is left ‘No matching package’ instead of getting the wrong one.</a:t>
            </a:r>
          </a:p>
          <a:p>
            <a:pPr>
              <a:spcAft>
                <a:spcPts val="800"/>
              </a:spcAft>
            </a:pPr>
            <a:r>
              <a:rPr sz="1300"/>
              <a:t>Browse opens a real Explorer-style picker (starts at ‘This PC’): double-click to open a folder, Ctrl/Shift+click to multi-select several, type to live-search, and Quick places jump to Desktop/Documents/Downloads. One button adds picks and finishes — Remove Selected/Remove All fix a mistake before closing.</a:t>
            </a:r>
          </a:p>
          <a:p>
            <a:pPr>
              <a:spcAft>
                <a:spcPts val="800"/>
              </a:spcAft>
            </a:pPr>
            <a:r>
              <a:rPr sz="1300"/>
              <a:t>A downgrade guard compares installed vs. selected version and requires an explicit risk acknowledgement before installing a lower version.</a:t>
            </a:r>
          </a:p>
          <a:p>
            <a:pPr>
              <a:spcAft>
                <a:spcPts val="800"/>
              </a:spcAft>
            </a:pPr>
            <a:r>
              <a:rPr sz="1300"/>
              <a:t>Upload and Install verifies success against the server's own package database, not the installer's exit code — and can enable SSL and start the service immediately after.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36" y="3962400"/>
            <a:ext cx="2105526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Tools &amp;</a:t>
            </a:r>
            <a:br/>
            <a:r>
              <a:t>Diagnostics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SSH Console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A live, persistent shell to a connected server — cd, environment variables, and sudo all carry over between commands, right inside Foreman.</a:t>
            </a:r>
          </a:p>
          <a:p>
            <a:pPr>
              <a:spcAft>
                <a:spcPts val="800"/>
              </a:spcAft>
            </a:pPr>
            <a:r>
              <a:rPr sz="1500"/>
              <a:t>Replaces opening a separate PuTTY session for one-off commands.</a:t>
            </a:r>
          </a:p>
          <a:p>
            <a:pPr>
              <a:spcAft>
                <a:spcPts val="800"/>
              </a:spcAft>
            </a:pPr>
            <a:r>
              <a:rPr sz="1500"/>
              <a:t>Full-screen interactive programs (vim, nano, top, less) are refused with a clear message, since this is a plain console, not a terminal emulator.</a:t>
            </a:r>
          </a:p>
        </p:txBody>
      </p:sp>
      <p:pic>
        <p:nvPicPr>
          <p:cNvPr id="4" name="Picture 3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556" y="2743200"/>
            <a:ext cx="5494887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Remote File Editor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Find or type a file's path, load it, edit it, and save — without opening a separate SSH session and using nano or vi on the server.</a:t>
            </a:r>
          </a:p>
          <a:p>
            <a:pPr>
              <a:spcAft>
                <a:spcPts val="800"/>
              </a:spcAft>
            </a:pPr>
            <a:r>
              <a:rPr sz="1500"/>
              <a:t>Save takes a timestamped backup first and preserves the file's owner and permission bits.</a:t>
            </a:r>
          </a:p>
          <a:p>
            <a:pPr>
              <a:spcAft>
                <a:spcPts val="800"/>
              </a:spcAft>
            </a:pPr>
            <a:r>
              <a:rPr sz="1500"/>
              <a:t>Can optionally restart a service immediately after saving, e.g. after editing a config file.</a:t>
            </a:r>
          </a:p>
        </p:txBody>
      </p:sp>
      <p:pic>
        <p:nvPicPr>
          <p:cNvPr id="4" name="Picture 3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024" y="2743200"/>
            <a:ext cx="5289952" cy="37947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Log &amp; Connection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5544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Every action — connect, health check, service discovery, OS detection — is logged with a timestamp and outcome, visible live in the app.</a:t>
            </a:r>
          </a:p>
          <a:p>
            <a:pPr>
              <a:spcAft>
                <a:spcPts val="800"/>
              </a:spcAft>
            </a:pPr>
            <a:r>
              <a:rPr sz="1500"/>
              <a:t>Open Log File jumps straight to the full log on disk for deeper troubleshooting.</a:t>
            </a:r>
          </a:p>
          <a:p>
            <a:pPr>
              <a:spcAft>
                <a:spcPts val="800"/>
              </a:spcAft>
            </a:pPr>
            <a:r>
              <a:rPr sz="1500"/>
              <a:t>Sample below: three servers connecting, discovering services, detecting OS, and reporting health, all in under two seconds each.</a:t>
            </a:r>
          </a:p>
        </p:txBody>
      </p:sp>
      <p:pic>
        <p:nvPicPr>
          <p:cNvPr id="4" name="Picture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7898"/>
            <a:ext cx="11186160" cy="338536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Recorder</a:t>
            </a:r>
            <a:br/>
            <a:r>
              <a:t>&amp; Reporting</a:t>
            </a:r>
            <a:b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 Recorder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8288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An opt-in recorder (footer button, top right of the app) captures clicks, fields edited, and ACTIVE time for every completed action — idle time (30s+ with no interaction) is excluded.</a:t>
            </a:r>
          </a:p>
          <a:p>
            <a:pPr>
              <a:spcAft>
                <a:spcPts val="800"/>
              </a:spcAft>
            </a:pPr>
            <a:r>
              <a:rPr sz="1500"/>
              <a:t>Start capturing, jump to the Metrics tab, or export the captured report as a CSV, all from one small panel.</a:t>
            </a:r>
          </a:p>
          <a:p>
            <a:pPr>
              <a:spcAft>
                <a:spcPts val="800"/>
              </a:spcAft>
            </a:pPr>
            <a:r>
              <a:rPr sz="1500"/>
              <a:t>This is the real, measured data behind the time/steps comparison on the next slides — not an estimate.</a:t>
            </a:r>
          </a:p>
        </p:txBody>
      </p:sp>
      <p:pic>
        <p:nvPicPr>
          <p:cNvPr id="4" name="Picture 3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43004"/>
            <a:ext cx="4206240" cy="266947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pic>
        <p:nvPicPr>
          <p:cNvPr id="5" name="Picture 4" descr="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4435160"/>
            <a:ext cx="6675120" cy="68516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Metrics 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502920" y="1051560"/>
            <a:ext cx="11186160" cy="118872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500"/>
              <a:t>Every captured activity appears as a row: time started, what it was, target server, clicks, fields edited, active time, and server-side operation time.</a:t>
            </a:r>
          </a:p>
          <a:p>
            <a:pPr>
              <a:spcAft>
                <a:spcPts val="800"/>
              </a:spcAft>
            </a:pPr>
            <a:r>
              <a:rPr sz="1500"/>
              <a:t>Export CSV produces the same data used for the manual-vs-tool comparison in this deck.</a:t>
            </a:r>
          </a:p>
        </p:txBody>
      </p:sp>
      <p:pic>
        <p:nvPicPr>
          <p:cNvPr id="4" name="Picture 3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78020"/>
            <a:ext cx="11186160" cy="1959359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Impact — Full Deployment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2545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563EB"/>
                </a:solidFill>
                <a:latin typeface="Calibri"/>
              </a:rPr>
              <a:t>~35 min</a:t>
            </a:r>
          </a:p>
          <a:p>
            <a:pPr algn="ctr">
              <a:spcBef>
                <a:spcPts val="1000"/>
              </a:spcBef>
            </a:pPr>
            <a:r>
              <a:rPr sz="1500" b="1">
                <a:solidFill>
                  <a:srgbClr val="1F3A5F"/>
                </a:solidFill>
              </a:rPr>
              <a:t>Time saved per deployment
(04:15:28 → 03:40:55)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68040" y="1920240"/>
            <a:ext cx="2545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563EB"/>
                </a:solidFill>
                <a:latin typeface="Calibri"/>
              </a:rPr>
              <a:t>~12%</a:t>
            </a:r>
          </a:p>
          <a:p>
            <a:pPr algn="ctr">
              <a:spcBef>
                <a:spcPts val="1000"/>
              </a:spcBef>
            </a:pPr>
            <a:r>
              <a:rPr sz="1500" b="1">
                <a:solidFill>
                  <a:srgbClr val="1F3A5F"/>
                </a:solidFill>
              </a:rPr>
              <a:t>Time reduction
(vs. 10% OKR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880" y="1920240"/>
            <a:ext cx="2545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563EB"/>
                </a:solidFill>
                <a:latin typeface="Calibri"/>
              </a:rPr>
              <a:t>84</a:t>
            </a:r>
          </a:p>
          <a:p>
            <a:pPr algn="ctr">
              <a:spcBef>
                <a:spcPts val="1000"/>
              </a:spcBef>
            </a:pPr>
            <a:r>
              <a:rPr sz="1500" b="1">
                <a:solidFill>
                  <a:srgbClr val="1F3A5F"/>
                </a:solidFill>
              </a:rPr>
              <a:t>Fewer manual steps
(435 → 351)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920240"/>
            <a:ext cx="2545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563EB"/>
                </a:solidFill>
                <a:latin typeface="Calibri"/>
              </a:rPr>
              <a:t>~16%</a:t>
            </a:r>
          </a:p>
          <a:p>
            <a:pPr algn="ctr">
              <a:spcBef>
                <a:spcPts val="1000"/>
              </a:spcBef>
            </a:pPr>
            <a:r>
              <a:rPr sz="1500" b="1">
                <a:solidFill>
                  <a:srgbClr val="1F3A5F"/>
                </a:solidFill>
              </a:rPr>
              <a:t>Steps reduction
(vs. 10% OKR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1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4748B"/>
                </a:solidFill>
              </a:rPr>
              <a:t>Figures cover the FULL deployment lifecycle — including OS/network provisioning and web-UI licensing work Foreman doesn't touch — measured against a real, keystroke-verified manual runbook and Foreman's own Efficiency Recorder. Figures are rounded down for a conservative estimate; both measures exceed the 10% OKR target set for this initiative.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640080" y="1188720"/>
            <a:ext cx="10911840" cy="512064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1600"/>
              <a:t>Confirm the SSH account for each target server has (or can be granted) sudo rights — Foreman bootstraps passwordless sudo automatically on first connect using the login credentials.</a:t>
            </a:r>
          </a:p>
          <a:p>
            <a:pPr>
              <a:spcAft>
                <a:spcPts val="1200"/>
              </a:spcAft>
            </a:pPr>
            <a:r>
              <a:rPr sz="1600"/>
              <a:t>Confirm network access from this Windows machine to every target server's SSH port.</a:t>
            </a:r>
          </a:p>
          <a:p>
            <a:pPr>
              <a:spcAft>
                <a:spcPts val="1200"/>
              </a:spcAft>
            </a:pPr>
            <a:r>
              <a:rPr sz="1600"/>
              <a:t>Mark each server's role(s) before connecting — role marks drive service discovery, package matching, and which servers are eligible Database targets.</a:t>
            </a:r>
          </a:p>
          <a:p>
            <a:pPr>
              <a:spcAft>
                <a:spcPts val="1200"/>
              </a:spcAft>
            </a:pPr>
            <a:r>
              <a:rPr sz="1600"/>
              <a:t>For Package tab work: have the .rpm / .deb files (or a network share) ready, and know the intended install reason text.</a:t>
            </a:r>
          </a:p>
          <a:p>
            <a:pPr>
              <a:spcAft>
                <a:spcPts val="1200"/>
              </a:spcAft>
            </a:pPr>
            <a:r>
              <a:rPr sz="1600"/>
              <a:t>For Certificates: know the exact destination path expected on each server (e.g. /opt/onelink/etc/client.ks).</a:t>
            </a:r>
          </a:p>
          <a:p>
            <a:pPr>
              <a:spcAft>
                <a:spcPts val="1200"/>
              </a:spcAft>
            </a:pPr>
            <a:r>
              <a:rPr sz="1600"/>
              <a:t>Optional: turn on the Efficiency Recorder (footer button) before starting a session if you want a timed record of what was done.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More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>
          <a:xfrm>
            <a:off x="640080" y="1188720"/>
            <a:ext cx="10911840" cy="5120640"/>
          </a:xfrm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sz="1800"/>
              <a:t>Foreman User Guide — click-by-click usage instructions for every tab and feature.</a:t>
            </a:r>
          </a:p>
          <a:p>
            <a:pPr>
              <a:spcAft>
                <a:spcPts val="1200"/>
              </a:spcAft>
            </a:pPr>
            <a:r>
              <a:rPr sz="1800"/>
              <a:t>Foreman Overview Document — architecture and every feature described in detail, no code.</a:t>
            </a:r>
          </a:p>
          <a:p>
            <a:pPr>
              <a:spcAft>
                <a:spcPts val="1200"/>
              </a:spcAft>
            </a:pPr>
            <a:r>
              <a:rPr sz="1800"/>
              <a:t>Foreman Code Study Guide — PowerShell fundamentals and line-by-line teaching, for anyone new to the language.</a:t>
            </a:r>
          </a:p>
          <a:p>
            <a:pPr>
              <a:spcAft>
                <a:spcPts val="1200"/>
              </a:spcAft>
            </a:pPr>
            <a:r>
              <a:rPr sz="1800"/>
              <a:t>Foreman Code Walkthrough — real code, quoted directly from source with line numbers, for maintainers.</a:t>
            </a:r>
          </a:p>
          <a:p>
            <a:pPr>
              <a:spcAft>
                <a:spcPts val="1200"/>
              </a:spcAft>
            </a:pPr>
            <a:r>
              <a:rPr sz="1800"/>
              <a:t>Source: cxs-devops-OnelinkAdministratorTool (branch dev/Foreman) — structured under src\, see src\README.md.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aming Systems">
      <a:dk1>
        <a:srgbClr val="000000"/>
      </a:dk1>
      <a:lt1>
        <a:srgbClr val="FFFFFF"/>
      </a:lt1>
      <a:dk2>
        <a:srgbClr val="00AA20"/>
      </a:dk2>
      <a:lt2>
        <a:srgbClr val="32F050"/>
      </a:lt2>
      <a:accent1>
        <a:srgbClr val="94FF80"/>
      </a:accent1>
      <a:accent2>
        <a:srgbClr val="66FFCC"/>
      </a:accent2>
      <a:accent3>
        <a:srgbClr val="3C78FF"/>
      </a:accent3>
      <a:accent4>
        <a:srgbClr val="FF7F00"/>
      </a:accent4>
      <a:accent5>
        <a:srgbClr val="F34059"/>
      </a:accent5>
      <a:accent6>
        <a:srgbClr val="FFED1B"/>
      </a:accent6>
      <a:hlink>
        <a:srgbClr val="6F6F6F"/>
      </a:hlink>
      <a:folHlink>
        <a:srgbClr val="6F6F6F"/>
      </a:folHlink>
    </a:clrScheme>
    <a:fontScheme name="OT Sono">
      <a:majorFont>
        <a:latin typeface="OTSono-Medium"/>
        <a:ea typeface=""/>
        <a:cs typeface=""/>
      </a:majorFont>
      <a:minorFont>
        <a:latin typeface="OTSono-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9A781C9170E548BABBAA75B806DD8F" ma:contentTypeVersion="10" ma:contentTypeDescription="Create a new document." ma:contentTypeScope="" ma:versionID="2608bf86b444da24cabe06204d1cc41e">
  <xsd:schema xmlns:xsd="http://www.w3.org/2001/XMLSchema" xmlns:xs="http://www.w3.org/2001/XMLSchema" xmlns:p="http://schemas.microsoft.com/office/2006/metadata/properties" xmlns:ns2="a3a2046d-0141-469e-ae3c-a30d254c5c71" xmlns:ns3="40f7733c-f402-4db7-b845-131c7f34a08c" targetNamespace="http://schemas.microsoft.com/office/2006/metadata/properties" ma:root="true" ma:fieldsID="14c2933a31e661f320cc8b207a6a868a" ns2:_="" ns3:_="">
    <xsd:import namespace="a3a2046d-0141-469e-ae3c-a30d254c5c71"/>
    <xsd:import namespace="40f7733c-f402-4db7-b845-131c7f34a0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a2046d-0141-469e-ae3c-a30d254c5c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7733c-f402-4db7-b845-131c7f34a08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63700A-746D-4A5D-8850-0B841CB4BAD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06340A-946E-47E0-A5A5-DE4710314B0D}">
  <ds:schemaRefs>
    <ds:schemaRef ds:uri="40f7733c-f402-4db7-b845-131c7f34a08c"/>
    <ds:schemaRef ds:uri="a3a2046d-0141-469e-ae3c-a30d254c5c7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739A68-166C-4536-B009-67752A28539A}">
  <ds:schemaRefs>
    <ds:schemaRef ds:uri="40f7733c-f402-4db7-b845-131c7f34a08c"/>
    <ds:schemaRef ds:uri="a3a2046d-0141-469e-ae3c-a30d254c5c7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DM Server Prep Utility</vt:lpstr>
      <vt:lpstr>Overview</vt:lpstr>
      <vt:lpstr>Application Purpose - Detailed</vt:lpstr>
      <vt:lpstr>Server Prep  Configuration </vt:lpstr>
      <vt:lpstr>Dynamic Screen Structure (Complete)</vt:lpstr>
      <vt:lpstr>Execution Status Progress Screen</vt:lpstr>
      <vt:lpstr>Run Button Behavior</vt:lpstr>
      <vt:lpstr>Server Prep Execution Flow</vt:lpstr>
      <vt:lpstr>Server Prep Execution Flow</vt:lpstr>
      <vt:lpstr>Field Instruction  Details </vt:lpstr>
      <vt:lpstr>Field Purpose - Credentials and Server Settings</vt:lpstr>
      <vt:lpstr>Field Purpose - Security, Apps, and Host Inputs</vt:lpstr>
      <vt:lpstr>Detailed Guidance - Credentials and Environment</vt:lpstr>
      <vt:lpstr>Detailed Guidance - Security and Protocol Choices</vt:lpstr>
      <vt:lpstr>Detailed Guidance - Server Lists, Imports, and Validation</vt:lpstr>
      <vt:lpstr>Time Capture and  Report Samples </vt:lpstr>
      <vt:lpstr>Server Prep Final Report</vt:lpstr>
      <vt:lpstr>Sample Time Capture Details (CSV)</vt:lpstr>
      <vt:lpstr>Sample Time Capture Report (HTML Summary)</vt:lpstr>
      <vt:lpstr>Operator Checklist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Pramanik, Anant</dc:creator>
  <cp:keywords/>
  <dc:description/>
  <cp:revision>2</cp:revision>
  <dcterms:created xsi:type="dcterms:W3CDTF">2024-06-01T11:41:29Z</dcterms:created>
  <dcterms:modified xsi:type="dcterms:W3CDTF">2026-09-22T13:00:42Z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0x010100DF9A781C9170E548BABBAA75B806DD8F</vt:lpwstr>
  </property>
  <property fmtid="{D5CDD505-2E9C-101B-9397-08002B2CF9AE}" pid="3" name="MediaServiceImageTags">
    <vt:lpwstr/>
  </property>
  <property fmtid="{D5CDD505-2E9C-101B-9397-08002B2CF9AE}" pid="4" name="MSIP_Label_df943263-359c-40f3-9055-10c40e962bbe_Enabled">
    <vt:lpwstr>true</vt:lpwstr>
  </property>
  <property fmtid="{D5CDD505-2E9C-101B-9397-08002B2CF9AE}" pid="5" name="MSIP_Label_df943263-359c-40f3-9055-10c40e962bbe_SetDate">
    <vt:lpwstr>2026-09-22T09:43:20Z</vt:lpwstr>
  </property>
  <property fmtid="{D5CDD505-2E9C-101B-9397-08002B2CF9AE}" pid="6" name="MSIP_Label_df943263-359c-40f3-9055-10c40e962bbe_Method">
    <vt:lpwstr>Standard</vt:lpwstr>
  </property>
  <property fmtid="{D5CDD505-2E9C-101B-9397-08002B2CF9AE}" pid="7" name="MSIP_Label_df943263-359c-40f3-9055-10c40e962bbe_Name">
    <vt:lpwstr>Confidential</vt:lpwstr>
  </property>
  <property fmtid="{D5CDD505-2E9C-101B-9397-08002B2CF9AE}" pid="8" name="MSIP_Label_df943263-359c-40f3-9055-10c40e962bbe_SiteId">
    <vt:lpwstr>c70bd33c-499a-46b7-aa9d-b0ff7510fc93</vt:lpwstr>
  </property>
  <property fmtid="{D5CDD505-2E9C-101B-9397-08002B2CF9AE}" pid="9" name="MSIP_Label_df943263-359c-40f3-9055-10c40e962bbe_ActionId">
    <vt:lpwstr>86306a2d-9847-4a3e-9796-c8c12515c63b</vt:lpwstr>
  </property>
  <property fmtid="{D5CDD505-2E9C-101B-9397-08002B2CF9AE}" pid="10" name="MSIP_Label_df943263-359c-40f3-9055-10c40e962bbe_ContentBits">
    <vt:lpwstr>0</vt:lpwstr>
  </property>
  <property fmtid="{D5CDD505-2E9C-101B-9397-08002B2CF9AE}" pid="11" name="MSIP_Label_df943263-359c-40f3-9055-10c40e962bbe_Tag">
    <vt:lpwstr>10, 3, 0, 2</vt:lpwstr>
  </property>
</Properties>
</file>